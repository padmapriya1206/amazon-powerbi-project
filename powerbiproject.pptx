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5"/>
  </p:notesMasterIdLst>
  <p:sldIdLst>
    <p:sldId id="256" r:id="rId3"/>
    <p:sldId id="571" r:id="rId4"/>
    <p:sldId id="572" r:id="rId5"/>
    <p:sldId id="573" r:id="rId6"/>
    <p:sldId id="574" r:id="rId7"/>
    <p:sldId id="575" r:id="rId8"/>
    <p:sldId id="576" r:id="rId9"/>
    <p:sldId id="580" r:id="rId10"/>
    <p:sldId id="577" r:id="rId11"/>
    <p:sldId id="579" r:id="rId12"/>
    <p:sldId id="578" r:id="rId13"/>
    <p:sldId id="536"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6FD0BC-8CFB-4A68-B2D1-4D33A7A34DB2}" v="26" dt="2026-03-14T17:42:30.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65" d="100"/>
          <a:sy n="65" d="100"/>
        </p:scale>
        <p:origin x="120" y="150"/>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dmapriya V" userId="67e44cb34819f53a" providerId="LiveId" clId="{9A9A56B8-F87D-4B10-B71C-BCE3E8B8A78F}"/>
    <pc:docChg chg="undo custSel addSld delSld modSld sldOrd">
      <pc:chgData name="Padmapriya V" userId="67e44cb34819f53a" providerId="LiveId" clId="{9A9A56B8-F87D-4B10-B71C-BCE3E8B8A78F}" dt="2026-03-14T17:42:41.320" v="282" actId="20577"/>
      <pc:docMkLst>
        <pc:docMk/>
      </pc:docMkLst>
      <pc:sldChg chg="addSp modSp mod">
        <pc:chgData name="Padmapriya V" userId="67e44cb34819f53a" providerId="LiveId" clId="{9A9A56B8-F87D-4B10-B71C-BCE3E8B8A78F}" dt="2026-03-14T17:18:11.273" v="230" actId="1076"/>
        <pc:sldMkLst>
          <pc:docMk/>
          <pc:sldMk cId="2310333463" sldId="256"/>
        </pc:sldMkLst>
        <pc:spChg chg="mod">
          <ac:chgData name="Padmapriya V" userId="67e44cb34819f53a" providerId="LiveId" clId="{9A9A56B8-F87D-4B10-B71C-BCE3E8B8A78F}" dt="2026-03-14T17:15:35.465" v="73" actId="1076"/>
          <ac:spMkLst>
            <pc:docMk/>
            <pc:sldMk cId="2310333463" sldId="256"/>
            <ac:spMk id="3" creationId="{0F837936-4230-3A98-A2A1-6E77E027B36D}"/>
          </ac:spMkLst>
        </pc:spChg>
        <pc:spChg chg="add mod">
          <ac:chgData name="Padmapriya V" userId="67e44cb34819f53a" providerId="LiveId" clId="{9A9A56B8-F87D-4B10-B71C-BCE3E8B8A78F}" dt="2026-03-14T17:18:11.273" v="230" actId="1076"/>
          <ac:spMkLst>
            <pc:docMk/>
            <pc:sldMk cId="2310333463" sldId="256"/>
            <ac:spMk id="4" creationId="{E272DE11-EE58-B44F-C1B7-07D20A692E82}"/>
          </ac:spMkLst>
        </pc:spChg>
        <pc:spChg chg="mod">
          <ac:chgData name="Padmapriya V" userId="67e44cb34819f53a" providerId="LiveId" clId="{9A9A56B8-F87D-4B10-B71C-BCE3E8B8A78F}" dt="2026-03-14T17:17:17.085" v="195" actId="20577"/>
          <ac:spMkLst>
            <pc:docMk/>
            <pc:sldMk cId="2310333463" sldId="256"/>
            <ac:spMk id="5" creationId="{3A663A0C-3931-F8E6-391C-2FF1FDBB09CD}"/>
          </ac:spMkLst>
        </pc:spChg>
      </pc:sldChg>
      <pc:sldChg chg="modSp mod">
        <pc:chgData name="Padmapriya V" userId="67e44cb34819f53a" providerId="LiveId" clId="{9A9A56B8-F87D-4B10-B71C-BCE3E8B8A78F}" dt="2026-03-14T17:18:24.877" v="231" actId="1076"/>
        <pc:sldMkLst>
          <pc:docMk/>
          <pc:sldMk cId="3372914246" sldId="572"/>
        </pc:sldMkLst>
        <pc:spChg chg="mod">
          <ac:chgData name="Padmapriya V" userId="67e44cb34819f53a" providerId="LiveId" clId="{9A9A56B8-F87D-4B10-B71C-BCE3E8B8A78F}" dt="2026-03-14T17:18:24.877" v="231" actId="1076"/>
          <ac:spMkLst>
            <pc:docMk/>
            <pc:sldMk cId="3372914246" sldId="572"/>
            <ac:spMk id="3" creationId="{28E8C97F-5AC9-F1CA-3CCC-090D5B13989A}"/>
          </ac:spMkLst>
        </pc:spChg>
      </pc:sldChg>
      <pc:sldChg chg="modSp mod">
        <pc:chgData name="Padmapriya V" userId="67e44cb34819f53a" providerId="LiveId" clId="{9A9A56B8-F87D-4B10-B71C-BCE3E8B8A78F}" dt="2026-03-14T17:18:37.966" v="232" actId="1076"/>
        <pc:sldMkLst>
          <pc:docMk/>
          <pc:sldMk cId="204139634" sldId="573"/>
        </pc:sldMkLst>
        <pc:spChg chg="mod">
          <ac:chgData name="Padmapriya V" userId="67e44cb34819f53a" providerId="LiveId" clId="{9A9A56B8-F87D-4B10-B71C-BCE3E8B8A78F}" dt="2026-03-14T17:18:37.966" v="232" actId="1076"/>
          <ac:spMkLst>
            <pc:docMk/>
            <pc:sldMk cId="204139634" sldId="573"/>
            <ac:spMk id="3" creationId="{AF67202D-4065-DDD7-98F1-4291C536D1A3}"/>
          </ac:spMkLst>
        </pc:spChg>
      </pc:sldChg>
      <pc:sldChg chg="modSp mod">
        <pc:chgData name="Padmapriya V" userId="67e44cb34819f53a" providerId="LiveId" clId="{9A9A56B8-F87D-4B10-B71C-BCE3E8B8A78F}" dt="2026-03-14T17:07:44.357" v="22" actId="14100"/>
        <pc:sldMkLst>
          <pc:docMk/>
          <pc:sldMk cId="3501125123" sldId="574"/>
        </pc:sldMkLst>
        <pc:spChg chg="mod">
          <ac:chgData name="Padmapriya V" userId="67e44cb34819f53a" providerId="LiveId" clId="{9A9A56B8-F87D-4B10-B71C-BCE3E8B8A78F}" dt="2026-03-14T17:07:44.357" v="22" actId="14100"/>
          <ac:spMkLst>
            <pc:docMk/>
            <pc:sldMk cId="3501125123" sldId="574"/>
            <ac:spMk id="3" creationId="{FE07E8EE-7F26-D809-3523-C58876935A4E}"/>
          </ac:spMkLst>
        </pc:spChg>
      </pc:sldChg>
      <pc:sldChg chg="modSp mod">
        <pc:chgData name="Padmapriya V" userId="67e44cb34819f53a" providerId="LiveId" clId="{9A9A56B8-F87D-4B10-B71C-BCE3E8B8A78F}" dt="2026-03-14T17:20:31.126" v="236" actId="255"/>
        <pc:sldMkLst>
          <pc:docMk/>
          <pc:sldMk cId="1199084396" sldId="575"/>
        </pc:sldMkLst>
        <pc:spChg chg="mod">
          <ac:chgData name="Padmapriya V" userId="67e44cb34819f53a" providerId="LiveId" clId="{9A9A56B8-F87D-4B10-B71C-BCE3E8B8A78F}" dt="2026-03-14T17:20:31.126" v="236" actId="255"/>
          <ac:spMkLst>
            <pc:docMk/>
            <pc:sldMk cId="1199084396" sldId="575"/>
            <ac:spMk id="3" creationId="{B5107410-DE3D-5F62-F9D7-11EAEA92F0BB}"/>
          </ac:spMkLst>
        </pc:spChg>
      </pc:sldChg>
      <pc:sldChg chg="modSp mod">
        <pc:chgData name="Padmapriya V" userId="67e44cb34819f53a" providerId="LiveId" clId="{9A9A56B8-F87D-4B10-B71C-BCE3E8B8A78F}" dt="2026-03-14T17:11:13.867" v="45" actId="27636"/>
        <pc:sldMkLst>
          <pc:docMk/>
          <pc:sldMk cId="58742533" sldId="576"/>
        </pc:sldMkLst>
        <pc:spChg chg="mod">
          <ac:chgData name="Padmapriya V" userId="67e44cb34819f53a" providerId="LiveId" clId="{9A9A56B8-F87D-4B10-B71C-BCE3E8B8A78F}" dt="2026-03-14T17:11:13.867" v="45" actId="27636"/>
          <ac:spMkLst>
            <pc:docMk/>
            <pc:sldMk cId="58742533" sldId="576"/>
            <ac:spMk id="3" creationId="{66102C9B-C4AF-D0DB-DE74-862D9812001C}"/>
          </ac:spMkLst>
        </pc:spChg>
      </pc:sldChg>
      <pc:sldChg chg="modSp mod">
        <pc:chgData name="Padmapriya V" userId="67e44cb34819f53a" providerId="LiveId" clId="{9A9A56B8-F87D-4B10-B71C-BCE3E8B8A78F}" dt="2026-03-14T17:11:34.315" v="48" actId="20577"/>
        <pc:sldMkLst>
          <pc:docMk/>
          <pc:sldMk cId="2245309600" sldId="577"/>
        </pc:sldMkLst>
        <pc:spChg chg="mod">
          <ac:chgData name="Padmapriya V" userId="67e44cb34819f53a" providerId="LiveId" clId="{9A9A56B8-F87D-4B10-B71C-BCE3E8B8A78F}" dt="2026-03-14T17:11:34.315" v="48" actId="20577"/>
          <ac:spMkLst>
            <pc:docMk/>
            <pc:sldMk cId="2245309600" sldId="577"/>
            <ac:spMk id="3" creationId="{21789DDB-698E-B624-5621-F9D79482FFED}"/>
          </ac:spMkLst>
        </pc:spChg>
      </pc:sldChg>
      <pc:sldChg chg="addSp delSp modSp mod">
        <pc:chgData name="Padmapriya V" userId="67e44cb34819f53a" providerId="LiveId" clId="{9A9A56B8-F87D-4B10-B71C-BCE3E8B8A78F}" dt="2026-03-14T17:42:41.320" v="282" actId="20577"/>
        <pc:sldMkLst>
          <pc:docMk/>
          <pc:sldMk cId="1691700673" sldId="578"/>
        </pc:sldMkLst>
        <pc:spChg chg="del mod">
          <ac:chgData name="Padmapriya V" userId="67e44cb34819f53a" providerId="LiveId" clId="{9A9A56B8-F87D-4B10-B71C-BCE3E8B8A78F}" dt="2026-03-14T17:12:50.894" v="62"/>
          <ac:spMkLst>
            <pc:docMk/>
            <pc:sldMk cId="1691700673" sldId="578"/>
            <ac:spMk id="3" creationId="{5E6198D1-2392-A218-1A4C-10F40FCB8253}"/>
          </ac:spMkLst>
        </pc:spChg>
        <pc:spChg chg="add">
          <ac:chgData name="Padmapriya V" userId="67e44cb34819f53a" providerId="LiveId" clId="{9A9A56B8-F87D-4B10-B71C-BCE3E8B8A78F}" dt="2026-03-14T17:12:27.886" v="53"/>
          <ac:spMkLst>
            <pc:docMk/>
            <pc:sldMk cId="1691700673" sldId="578"/>
            <ac:spMk id="4" creationId="{B2F8DBC4-06A2-5750-3DEF-73446B9D2C0C}"/>
          </ac:spMkLst>
        </pc:spChg>
        <pc:spChg chg="add">
          <ac:chgData name="Padmapriya V" userId="67e44cb34819f53a" providerId="LiveId" clId="{9A9A56B8-F87D-4B10-B71C-BCE3E8B8A78F}" dt="2026-03-14T17:12:36.959" v="55"/>
          <ac:spMkLst>
            <pc:docMk/>
            <pc:sldMk cId="1691700673" sldId="578"/>
            <ac:spMk id="5" creationId="{4E3D2A0F-0F99-DDDB-895C-8A41CB458B74}"/>
          </ac:spMkLst>
        </pc:spChg>
        <pc:spChg chg="add mod">
          <ac:chgData name="Padmapriya V" userId="67e44cb34819f53a" providerId="LiveId" clId="{9A9A56B8-F87D-4B10-B71C-BCE3E8B8A78F}" dt="2026-03-14T17:42:41.320" v="282" actId="20577"/>
          <ac:spMkLst>
            <pc:docMk/>
            <pc:sldMk cId="1691700673" sldId="578"/>
            <ac:spMk id="6" creationId="{416457E7-4FF6-0198-C4BB-DAF818CE4250}"/>
          </ac:spMkLst>
        </pc:spChg>
        <pc:spChg chg="add mod">
          <ac:chgData name="Padmapriya V" userId="67e44cb34819f53a" providerId="LiveId" clId="{9A9A56B8-F87D-4B10-B71C-BCE3E8B8A78F}" dt="2026-03-14T17:42:14.592" v="279" actId="1076"/>
          <ac:spMkLst>
            <pc:docMk/>
            <pc:sldMk cId="1691700673" sldId="578"/>
            <ac:spMk id="8" creationId="{4D3B0BC0-28B4-0CC7-76AB-2B544BB6FCA2}"/>
          </ac:spMkLst>
        </pc:spChg>
      </pc:sldChg>
      <pc:sldChg chg="modSp mod">
        <pc:chgData name="Padmapriya V" userId="67e44cb34819f53a" providerId="LiveId" clId="{9A9A56B8-F87D-4B10-B71C-BCE3E8B8A78F}" dt="2026-03-14T17:12:43.946" v="59" actId="20577"/>
        <pc:sldMkLst>
          <pc:docMk/>
          <pc:sldMk cId="3744199677" sldId="579"/>
        </pc:sldMkLst>
        <pc:spChg chg="mod">
          <ac:chgData name="Padmapriya V" userId="67e44cb34819f53a" providerId="LiveId" clId="{9A9A56B8-F87D-4B10-B71C-BCE3E8B8A78F}" dt="2026-03-14T17:12:43.946" v="59" actId="20577"/>
          <ac:spMkLst>
            <pc:docMk/>
            <pc:sldMk cId="3744199677" sldId="579"/>
            <ac:spMk id="3" creationId="{3F2C79AB-5BF9-3911-CAE8-5E44B0DF2236}"/>
          </ac:spMkLst>
        </pc:spChg>
      </pc:sldChg>
      <pc:sldChg chg="addSp delSp modSp new mod ord">
        <pc:chgData name="Padmapriya V" userId="67e44cb34819f53a" providerId="LiveId" clId="{9A9A56B8-F87D-4B10-B71C-BCE3E8B8A78F}" dt="2026-03-14T17:28:20.430" v="251" actId="1076"/>
        <pc:sldMkLst>
          <pc:docMk/>
          <pc:sldMk cId="3673877717" sldId="580"/>
        </pc:sldMkLst>
        <pc:spChg chg="del">
          <ac:chgData name="Padmapriya V" userId="67e44cb34819f53a" providerId="LiveId" clId="{9A9A56B8-F87D-4B10-B71C-BCE3E8B8A78F}" dt="2026-03-14T17:26:18.245" v="240" actId="931"/>
          <ac:spMkLst>
            <pc:docMk/>
            <pc:sldMk cId="3673877717" sldId="580"/>
            <ac:spMk id="3" creationId="{D936E47D-AE8E-CDC8-AF7E-B149C0B2CCCD}"/>
          </ac:spMkLst>
        </pc:spChg>
        <pc:picChg chg="add mod ord">
          <ac:chgData name="Padmapriya V" userId="67e44cb34819f53a" providerId="LiveId" clId="{9A9A56B8-F87D-4B10-B71C-BCE3E8B8A78F}" dt="2026-03-14T17:26:18.245" v="240" actId="931"/>
          <ac:picMkLst>
            <pc:docMk/>
            <pc:sldMk cId="3673877717" sldId="580"/>
            <ac:picMk id="5" creationId="{DC753A3C-0BE7-18E0-CC57-2DF8D8AA6880}"/>
          </ac:picMkLst>
        </pc:picChg>
        <pc:picChg chg="add mod modCrop">
          <ac:chgData name="Padmapriya V" userId="67e44cb34819f53a" providerId="LiveId" clId="{9A9A56B8-F87D-4B10-B71C-BCE3E8B8A78F}" dt="2026-03-14T17:28:20.430" v="251" actId="1076"/>
          <ac:picMkLst>
            <pc:docMk/>
            <pc:sldMk cId="3673877717" sldId="580"/>
            <ac:picMk id="7" creationId="{B4C1784F-EE19-257D-0157-DB4D8DA66B4C}"/>
          </ac:picMkLst>
        </pc:picChg>
      </pc:sldChg>
      <pc:sldChg chg="new del">
        <pc:chgData name="Padmapriya V" userId="67e44cb34819f53a" providerId="LiveId" clId="{9A9A56B8-F87D-4B10-B71C-BCE3E8B8A78F}" dt="2026-03-14T17:42:36.707" v="281" actId="680"/>
        <pc:sldMkLst>
          <pc:docMk/>
          <pc:sldMk cId="765155468" sldId="5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12</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Padmapriya1206/Amazon-PowerBI-Project"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476540" y="963029"/>
            <a:ext cx="4746772" cy="2506766"/>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IN" sz="3800" b="1" dirty="0">
                <a:latin typeface="Arial" panose="020B0604020202020204" pitchFamily="34" charset="0"/>
                <a:cs typeface="Arial" panose="020B0604020202020204" pitchFamily="34" charset="0"/>
              </a:rPr>
              <a:t>Amazon Product Performance and Customer Sentiment Analysis using Power BI</a:t>
            </a:r>
            <a:endParaRPr lang="en-US" sz="3800" b="1" dirty="0">
              <a:latin typeface="Arial" panose="020B0604020202020204" pitchFamily="34" charset="0"/>
              <a:cs typeface="Arial" panose="020B0604020202020204" pitchFamily="34" charset="0"/>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PADMAPRIYA V</a:t>
            </a:r>
          </a:p>
          <a:p>
            <a:pPr algn="l">
              <a:spcAft>
                <a:spcPts val="600"/>
              </a:spcAft>
            </a:pPr>
            <a:r>
              <a:rPr lang="en-US" sz="1600" b="1" cap="all" dirty="0"/>
              <a:t>College Name: EASWARI ENGINEERING COLLEGE</a:t>
            </a:r>
          </a:p>
          <a:p>
            <a:pPr algn="l">
              <a:spcAft>
                <a:spcPts val="600"/>
              </a:spcAft>
            </a:pPr>
            <a:r>
              <a:rPr lang="en-US" sz="1600" b="1" cap="all" dirty="0"/>
              <a:t>Department: INFORMATION TECHNOLOGY</a:t>
            </a:r>
          </a:p>
          <a:p>
            <a:pPr algn="l">
              <a:spcAft>
                <a:spcPts val="600"/>
              </a:spcAft>
            </a:pPr>
            <a:r>
              <a:rPr lang="en-US" sz="1600" b="1" cap="all" dirty="0"/>
              <a:t>Email ID: </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stretch>
            <a:fillRect/>
          </a:stretch>
        </p:blipFill>
        <p:spPr>
          <a:xfrm>
            <a:off x="6409990" y="963029"/>
            <a:ext cx="4590784" cy="4936489"/>
          </a:xfrm>
          <a:prstGeom prst="rect">
            <a:avLst/>
          </a:prstGeom>
        </p:spPr>
      </p:pic>
      <p:sp>
        <p:nvSpPr>
          <p:cNvPr id="4" name="TextBox 3">
            <a:extLst>
              <a:ext uri="{FF2B5EF4-FFF2-40B4-BE49-F238E27FC236}">
                <a16:creationId xmlns:a16="http://schemas.microsoft.com/office/drawing/2014/main" id="{E272DE11-EE58-B44F-C1B7-07D20A692E82}"/>
              </a:ext>
            </a:extLst>
          </p:cNvPr>
          <p:cNvSpPr txBox="1"/>
          <p:nvPr/>
        </p:nvSpPr>
        <p:spPr>
          <a:xfrm>
            <a:off x="1569294" y="5822697"/>
            <a:ext cx="3314701" cy="369332"/>
          </a:xfrm>
          <a:prstGeom prst="rect">
            <a:avLst/>
          </a:prstGeom>
          <a:noFill/>
        </p:spPr>
        <p:txBody>
          <a:bodyPr wrap="square" rtlCol="0">
            <a:spAutoFit/>
          </a:bodyPr>
          <a:lstStyle/>
          <a:p>
            <a:r>
              <a:rPr lang="en-IN" b="1" dirty="0"/>
              <a:t>padmapriyav006@gmail.com</a:t>
            </a:r>
          </a:p>
        </p:txBody>
      </p:sp>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a:cs typeface="Arial"/>
              </a:rPr>
              <a:t>Problem Statement </a:t>
            </a:r>
            <a:r>
              <a:rPr lang="en-US" sz="2200">
                <a:latin typeface="Arial"/>
                <a:cs typeface="Arial"/>
              </a:rPr>
              <a:t>(Should not include solution)</a:t>
            </a:r>
          </a:p>
          <a:p>
            <a:pPr marL="305435" indent="-305435">
              <a:spcBef>
                <a:spcPct val="20000"/>
              </a:spcBef>
              <a:spcAft>
                <a:spcPts val="600"/>
              </a:spcAft>
            </a:pPr>
            <a:r>
              <a:rPr lang="en-US" sz="2200" b="1">
                <a:latin typeface="Arial"/>
                <a:cs typeface="Arial"/>
              </a:rPr>
              <a:t>Proposed System/Solution</a:t>
            </a:r>
            <a:endParaRPr lang="en-US" sz="2200">
              <a:latin typeface="Arial"/>
              <a:cs typeface="Arial"/>
            </a:endParaRPr>
          </a:p>
          <a:p>
            <a:pPr marL="305435" indent="-305435">
              <a:spcBef>
                <a:spcPct val="20000"/>
              </a:spcBef>
              <a:spcAft>
                <a:spcPts val="600"/>
              </a:spcAft>
            </a:pPr>
            <a:r>
              <a:rPr lang="en-US" sz="2200" b="1">
                <a:latin typeface="Arial"/>
                <a:cs typeface="Arial"/>
              </a:rPr>
              <a:t>System Development Approach </a:t>
            </a:r>
            <a:r>
              <a:rPr lang="en-US" sz="2200">
                <a:latin typeface="Arial"/>
                <a:cs typeface="Arial"/>
              </a:rPr>
              <a:t>(Technology Used) </a:t>
            </a:r>
          </a:p>
          <a:p>
            <a:pPr marL="305435" indent="-305435">
              <a:spcBef>
                <a:spcPct val="20000"/>
              </a:spcBef>
              <a:spcAft>
                <a:spcPts val="600"/>
              </a:spcAft>
            </a:pPr>
            <a:r>
              <a:rPr lang="en-US" sz="2200" b="1">
                <a:latin typeface="Arial"/>
                <a:cs typeface="Arial"/>
              </a:rPr>
              <a:t>Algorithm &amp; Deployment  </a:t>
            </a:r>
            <a:endParaRPr lang="en-US" sz="2200">
              <a:latin typeface="Arial"/>
              <a:cs typeface="Arial"/>
            </a:endParaRPr>
          </a:p>
          <a:p>
            <a:pPr marL="305435" indent="-305435">
              <a:spcBef>
                <a:spcPct val="20000"/>
              </a:spcBef>
              <a:spcAft>
                <a:spcPts val="600"/>
              </a:spcAft>
            </a:pPr>
            <a:r>
              <a:rPr lang="en-US" sz="2200" b="1">
                <a:latin typeface="Arial"/>
                <a:cs typeface="Arial"/>
              </a:rPr>
              <a:t>Result (Output Image)</a:t>
            </a:r>
            <a:endParaRPr lang="en-US" sz="2200">
              <a:latin typeface="Arial"/>
              <a:cs typeface="Arial"/>
            </a:endParaRPr>
          </a:p>
          <a:p>
            <a:pPr marL="305435" indent="-305435">
              <a:spcBef>
                <a:spcPct val="20000"/>
              </a:spcBef>
              <a:spcAft>
                <a:spcPts val="600"/>
              </a:spcAft>
            </a:pPr>
            <a:r>
              <a:rPr lang="en-US" sz="2200" b="1">
                <a:latin typeface="Arial"/>
                <a:cs typeface="Arial"/>
              </a:rPr>
              <a:t>Conclusion</a:t>
            </a:r>
            <a:endParaRPr lang="en-US" sz="2200">
              <a:latin typeface="Arial"/>
              <a:cs typeface="Arial"/>
            </a:endParaRPr>
          </a:p>
          <a:p>
            <a:pPr marL="305435" indent="-305435">
              <a:spcBef>
                <a:spcPct val="20000"/>
              </a:spcBef>
              <a:spcAft>
                <a:spcPts val="600"/>
              </a:spcAft>
            </a:pPr>
            <a:r>
              <a:rPr lang="en-US" sz="2200" b="1">
                <a:latin typeface="Arial"/>
                <a:cs typeface="Arial"/>
              </a:rPr>
              <a:t>Future Scope</a:t>
            </a:r>
            <a:endParaRPr lang="en-US" sz="2200">
              <a:latin typeface="Arial"/>
              <a:cs typeface="Arial"/>
            </a:endParaRPr>
          </a:p>
          <a:p>
            <a:pPr marL="305435" indent="-305435">
              <a:spcBef>
                <a:spcPct val="20000"/>
              </a:spcBef>
              <a:spcAft>
                <a:spcPts val="600"/>
              </a:spcAft>
            </a:pPr>
            <a:r>
              <a:rPr lang="en-US" sz="2200" b="1">
                <a:latin typeface="Arial"/>
                <a:cs typeface="Arial"/>
              </a:rPr>
              <a:t>References</a:t>
            </a:r>
            <a:endParaRPr lang="en-US" sz="2200">
              <a:latin typeface="Arial"/>
              <a:cs typeface="Arial"/>
            </a:endParaRPr>
          </a:p>
          <a:p>
            <a:endParaRPr lang="en-GB" sz="220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1191" y="1651980"/>
            <a:ext cx="10515600" cy="4251960"/>
          </a:xfrm>
        </p:spPr>
        <p:txBody>
          <a:bodyPr vert="horz" lIns="91440" tIns="45720" rIns="91440" bIns="45720" rtlCol="0">
            <a:normAutofit/>
          </a:bodyPr>
          <a:lstStyle/>
          <a:p>
            <a:r>
              <a:rPr lang="en-IN" sz="2000" dirty="0">
                <a:latin typeface="Arial" panose="020B0604020202020204" pitchFamily="34" charset="0"/>
                <a:cs typeface="Arial" panose="020B0604020202020204" pitchFamily="34" charset="0"/>
              </a:rPr>
              <a:t>E-commerce platforms such as Amazon contain a vast number of products with different prices, ratings, and customer reviews. </a:t>
            </a:r>
            <a:r>
              <a:rPr lang="en-IN" sz="2000" dirty="0" err="1">
                <a:latin typeface="Arial" panose="020B0604020202020204" pitchFamily="34" charset="0"/>
                <a:cs typeface="Arial" panose="020B0604020202020204" pitchFamily="34" charset="0"/>
              </a:rPr>
              <a:t>Analyzing</a:t>
            </a:r>
            <a:r>
              <a:rPr lang="en-IN" sz="2000" dirty="0">
                <a:latin typeface="Arial" panose="020B0604020202020204" pitchFamily="34" charset="0"/>
                <a:cs typeface="Arial" panose="020B0604020202020204" pitchFamily="34" charset="0"/>
              </a:rPr>
              <a:t> such large datasets manually is difficult and time-consuming.</a:t>
            </a:r>
          </a:p>
          <a:p>
            <a:r>
              <a:rPr lang="en-IN" sz="2000" dirty="0">
                <a:latin typeface="Arial" panose="020B0604020202020204" pitchFamily="34" charset="0"/>
                <a:cs typeface="Arial" panose="020B0604020202020204" pitchFamily="34" charset="0"/>
              </a:rPr>
              <a:t>Businesses and analysts need a clear understanding of product performance, customer feedback, and pricing trends in order to make informed decisions. However, without proper data visualization tools, identifying popular brands, highly rated products, and customer sentiment becomes challenging.</a:t>
            </a:r>
          </a:p>
          <a:p>
            <a:r>
              <a:rPr lang="en-IN" sz="2000" dirty="0">
                <a:latin typeface="Arial" panose="020B0604020202020204" pitchFamily="34" charset="0"/>
                <a:cs typeface="Arial" panose="020B0604020202020204" pitchFamily="34" charset="0"/>
              </a:rPr>
              <a:t>Therefore, there is a need for an interactive dashboard that can effectively </a:t>
            </a:r>
            <a:r>
              <a:rPr lang="en-IN" sz="2000" dirty="0" err="1">
                <a:latin typeface="Arial" panose="020B0604020202020204" pitchFamily="34" charset="0"/>
                <a:cs typeface="Arial" panose="020B0604020202020204" pitchFamily="34" charset="0"/>
              </a:rPr>
              <a:t>analyze</a:t>
            </a:r>
            <a:r>
              <a:rPr lang="en-IN" sz="2000" dirty="0">
                <a:latin typeface="Arial" panose="020B0604020202020204" pitchFamily="34" charset="0"/>
                <a:cs typeface="Arial" panose="020B0604020202020204" pitchFamily="34" charset="0"/>
              </a:rPr>
              <a:t> Amazon product data and present insights in a simple and meaningful way.</a:t>
            </a:r>
          </a:p>
          <a:p>
            <a:pPr marL="0" indent="0">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0" y="1304306"/>
            <a:ext cx="10515600" cy="4950444"/>
          </a:xfrm>
        </p:spPr>
        <p:txBody>
          <a:bodyPr vert="horz" lIns="91440" tIns="45720" rIns="91440" bIns="45720" rtlCol="0" anchor="t">
            <a:noAutofit/>
          </a:bodyPr>
          <a:lstStyle/>
          <a:p>
            <a:r>
              <a:rPr lang="en-IN" sz="2000" dirty="0">
                <a:latin typeface="Arial" panose="020B0604020202020204" pitchFamily="34" charset="0"/>
                <a:cs typeface="Arial" panose="020B0604020202020204" pitchFamily="34" charset="0"/>
              </a:rPr>
              <a:t>The proposed solution is to develop an </a:t>
            </a:r>
            <a:r>
              <a:rPr lang="en-IN" sz="2000" b="1" dirty="0">
                <a:latin typeface="Arial" panose="020B0604020202020204" pitchFamily="34" charset="0"/>
                <a:cs typeface="Arial" panose="020B0604020202020204" pitchFamily="34" charset="0"/>
              </a:rPr>
              <a:t>interactive Power BI dashboard</a:t>
            </a:r>
            <a:r>
              <a:rPr lang="en-IN" sz="2000" dirty="0">
                <a:latin typeface="Arial" panose="020B0604020202020204" pitchFamily="34" charset="0"/>
                <a:cs typeface="Arial" panose="020B0604020202020204" pitchFamily="34" charset="0"/>
              </a:rPr>
              <a:t> that </a:t>
            </a:r>
            <a:r>
              <a:rPr lang="en-IN" sz="2000" dirty="0" err="1">
                <a:latin typeface="Arial" panose="020B0604020202020204" pitchFamily="34" charset="0"/>
                <a:cs typeface="Arial" panose="020B0604020202020204" pitchFamily="34" charset="0"/>
              </a:rPr>
              <a:t>analyzes</a:t>
            </a:r>
            <a:r>
              <a:rPr lang="en-IN" sz="2000" dirty="0">
                <a:latin typeface="Arial" panose="020B0604020202020204" pitchFamily="34" charset="0"/>
                <a:cs typeface="Arial" panose="020B0604020202020204" pitchFamily="34" charset="0"/>
              </a:rPr>
              <a:t> Amazon product data and provides meaningful insights about product performance and customer sentiment.</a:t>
            </a:r>
          </a:p>
          <a:p>
            <a:r>
              <a:rPr lang="en-IN" sz="2000" dirty="0">
                <a:latin typeface="Arial" panose="020B0604020202020204" pitchFamily="34" charset="0"/>
                <a:cs typeface="Arial" panose="020B0604020202020204" pitchFamily="34" charset="0"/>
              </a:rPr>
              <a:t>The system uses a cleaned dataset containing product information such as product name, brand, rating, number of ratings, actual price, discount price, and review sentiment.</a:t>
            </a:r>
          </a:p>
          <a:p>
            <a:r>
              <a:rPr lang="en-IN" sz="2000" dirty="0">
                <a:latin typeface="Arial" panose="020B0604020202020204" pitchFamily="34" charset="0"/>
                <a:cs typeface="Arial" panose="020B0604020202020204" pitchFamily="34" charset="0"/>
              </a:rPr>
              <a:t>The dashboard will display:</a:t>
            </a:r>
          </a:p>
          <a:p>
            <a:r>
              <a:rPr lang="en-IN" sz="2000" dirty="0">
                <a:latin typeface="Arial" panose="020B0604020202020204" pitchFamily="34" charset="0"/>
                <a:cs typeface="Arial" panose="020B0604020202020204" pitchFamily="34" charset="0"/>
              </a:rPr>
              <a:t>Key Performance Indicators such as total products, average ratings, and total reviews</a:t>
            </a:r>
          </a:p>
          <a:p>
            <a:r>
              <a:rPr lang="en-IN" sz="2000" dirty="0">
                <a:latin typeface="Arial" panose="020B0604020202020204" pitchFamily="34" charset="0"/>
                <a:cs typeface="Arial" panose="020B0604020202020204" pitchFamily="34" charset="0"/>
              </a:rPr>
              <a:t>Brand performance and product popularity</a:t>
            </a:r>
          </a:p>
          <a:p>
            <a:r>
              <a:rPr lang="en-IN" sz="2000" dirty="0">
                <a:latin typeface="Arial" panose="020B0604020202020204" pitchFamily="34" charset="0"/>
                <a:cs typeface="Arial" panose="020B0604020202020204" pitchFamily="34" charset="0"/>
              </a:rPr>
              <a:t>Comparison of actual price and discount price</a:t>
            </a:r>
          </a:p>
          <a:p>
            <a:r>
              <a:rPr lang="en-IN" sz="2000" dirty="0">
                <a:latin typeface="Arial" panose="020B0604020202020204" pitchFamily="34" charset="0"/>
                <a:cs typeface="Arial" panose="020B0604020202020204" pitchFamily="34" charset="0"/>
              </a:rPr>
              <a:t>Customer sentiment distribution based on reviews</a:t>
            </a:r>
          </a:p>
          <a:p>
            <a:r>
              <a:rPr lang="en-IN" sz="2000" dirty="0">
                <a:latin typeface="Arial" panose="020B0604020202020204" pitchFamily="34" charset="0"/>
                <a:cs typeface="Arial" panose="020B0604020202020204" pitchFamily="34" charset="0"/>
              </a:rPr>
              <a:t>Most reviewed brands and products</a:t>
            </a:r>
          </a:p>
          <a:p>
            <a:r>
              <a:rPr lang="en-IN" sz="2000" dirty="0">
                <a:latin typeface="Arial" panose="020B0604020202020204" pitchFamily="34" charset="0"/>
                <a:cs typeface="Arial" panose="020B0604020202020204" pitchFamily="34" charset="0"/>
              </a:rPr>
              <a:t>This visualization helps users easily understand product trends and customer feedback.</a:t>
            </a:r>
          </a:p>
          <a:p>
            <a:pPr marL="305435" indent="-305435">
              <a:spcBef>
                <a:spcPct val="20000"/>
              </a:spcBef>
              <a:spcAft>
                <a:spcPts val="600"/>
              </a:spcAft>
              <a:buFont typeface="Arial"/>
              <a:buChar char="•"/>
            </a:pPr>
            <a:endParaRPr lang="en-GB"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524956" y="1214141"/>
            <a:ext cx="10226618" cy="2214859"/>
          </a:xfrm>
        </p:spPr>
        <p:txBody>
          <a:bodyPr vert="horz" lIns="91440" tIns="45720" rIns="91440" bIns="45720" rtlCol="0">
            <a:noAutofit/>
          </a:bodyPr>
          <a:lstStyle/>
          <a:p>
            <a:r>
              <a:rPr lang="en-IN" sz="1600" b="1" dirty="0"/>
              <a:t>System Requirements</a:t>
            </a:r>
            <a:endParaRPr lang="en-IN" sz="1600" dirty="0"/>
          </a:p>
          <a:p>
            <a:r>
              <a:rPr lang="en-IN" sz="1600" dirty="0">
                <a:latin typeface="Arial" panose="020B0604020202020204" pitchFamily="34" charset="0"/>
                <a:cs typeface="Arial" panose="020B0604020202020204" pitchFamily="34" charset="0"/>
              </a:rPr>
              <a:t>Power BI Desktop</a:t>
            </a:r>
          </a:p>
          <a:p>
            <a:r>
              <a:rPr lang="en-IN" sz="1600" dirty="0">
                <a:latin typeface="Arial" panose="020B0604020202020204" pitchFamily="34" charset="0"/>
                <a:cs typeface="Arial" panose="020B0604020202020204" pitchFamily="34" charset="0"/>
              </a:rPr>
              <a:t>Amazon Product Dataset (CSV format)</a:t>
            </a:r>
          </a:p>
          <a:p>
            <a:r>
              <a:rPr lang="en-IN" sz="1600" dirty="0">
                <a:latin typeface="Arial" panose="020B0604020202020204" pitchFamily="34" charset="0"/>
                <a:cs typeface="Arial" panose="020B0604020202020204" pitchFamily="34" charset="0"/>
              </a:rPr>
              <a:t>Computer system with basic data analysis tools</a:t>
            </a:r>
          </a:p>
          <a:p>
            <a:r>
              <a:rPr lang="en-IN" sz="1600" b="1" dirty="0"/>
              <a:t>Tools &amp; Technologies Used</a:t>
            </a:r>
            <a:endParaRPr lang="en-IN" sz="1600" dirty="0"/>
          </a:p>
          <a:p>
            <a:r>
              <a:rPr lang="en-IN" sz="1600" dirty="0">
                <a:latin typeface="Arial" panose="020B0604020202020204" pitchFamily="34" charset="0"/>
                <a:cs typeface="Arial" panose="020B0604020202020204" pitchFamily="34" charset="0"/>
              </a:rPr>
              <a:t>Microsoft Power BI</a:t>
            </a:r>
          </a:p>
          <a:p>
            <a:r>
              <a:rPr lang="en-IN" sz="1600" dirty="0">
                <a:latin typeface="Arial" panose="020B0604020202020204" pitchFamily="34" charset="0"/>
                <a:cs typeface="Arial" panose="020B0604020202020204" pitchFamily="34" charset="0"/>
              </a:rPr>
              <a:t>Data Cleaning and Transformation</a:t>
            </a:r>
          </a:p>
          <a:p>
            <a:r>
              <a:rPr lang="en-IN" sz="1600" dirty="0">
                <a:latin typeface="Arial" panose="020B0604020202020204" pitchFamily="34" charset="0"/>
                <a:cs typeface="Arial" panose="020B0604020202020204" pitchFamily="34" charset="0"/>
              </a:rPr>
              <a:t>CSV Dataset Processing</a:t>
            </a:r>
          </a:p>
          <a:p>
            <a:r>
              <a:rPr lang="en-IN" sz="1600" b="1" dirty="0"/>
              <a:t>Development Steps</a:t>
            </a:r>
            <a:endParaRPr lang="en-IN" sz="1600" dirty="0"/>
          </a:p>
          <a:p>
            <a:r>
              <a:rPr lang="en-IN" sz="1600" dirty="0">
                <a:latin typeface="Arial" panose="020B0604020202020204" pitchFamily="34" charset="0"/>
                <a:cs typeface="Arial" panose="020B0604020202020204" pitchFamily="34" charset="0"/>
              </a:rPr>
              <a:t>Collect Amazon product dataset</a:t>
            </a:r>
          </a:p>
          <a:p>
            <a:r>
              <a:rPr lang="en-IN" sz="1600" dirty="0">
                <a:latin typeface="Arial" panose="020B0604020202020204" pitchFamily="34" charset="0"/>
                <a:cs typeface="Arial" panose="020B0604020202020204" pitchFamily="34" charset="0"/>
              </a:rPr>
              <a:t>Clean and preprocess the data</a:t>
            </a:r>
          </a:p>
          <a:p>
            <a:r>
              <a:rPr lang="en-IN" sz="1600" dirty="0">
                <a:latin typeface="Arial" panose="020B0604020202020204" pitchFamily="34" charset="0"/>
                <a:cs typeface="Arial" panose="020B0604020202020204" pitchFamily="34" charset="0"/>
              </a:rPr>
              <a:t>Import dataset into Power BI</a:t>
            </a:r>
          </a:p>
          <a:p>
            <a:r>
              <a:rPr lang="en-IN" sz="1600" dirty="0">
                <a:latin typeface="Arial" panose="020B0604020202020204" pitchFamily="34" charset="0"/>
                <a:cs typeface="Arial" panose="020B0604020202020204" pitchFamily="34" charset="0"/>
              </a:rPr>
              <a:t>Create KPIs and measures</a:t>
            </a:r>
          </a:p>
          <a:p>
            <a:r>
              <a:rPr lang="en-IN" sz="1600" dirty="0">
                <a:latin typeface="Arial" panose="020B0604020202020204" pitchFamily="34" charset="0"/>
                <a:cs typeface="Arial" panose="020B0604020202020204" pitchFamily="34" charset="0"/>
              </a:rPr>
              <a:t>Design interactive dashboard visuals</a:t>
            </a:r>
          </a:p>
          <a:p>
            <a:r>
              <a:rPr lang="en-IN" sz="1600" dirty="0">
                <a:latin typeface="Arial" panose="020B0604020202020204" pitchFamily="34" charset="0"/>
                <a:cs typeface="Arial" panose="020B0604020202020204" pitchFamily="34" charset="0"/>
              </a:rPr>
              <a:t>Generate insights using data visualization</a:t>
            </a:r>
          </a:p>
          <a:p>
            <a:pPr marL="0" indent="0">
              <a:spcBef>
                <a:spcPct val="20000"/>
              </a:spcBef>
              <a:spcAft>
                <a:spcPts val="600"/>
              </a:spcAft>
              <a:buNone/>
            </a:pPr>
            <a:endParaRPr lang="en-GB" sz="16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79400" y="1349375"/>
            <a:ext cx="10515600" cy="4251960"/>
          </a:xfrm>
        </p:spPr>
        <p:txBody>
          <a:bodyPr vert="horz" lIns="91440" tIns="45720" rIns="91440" bIns="45720" rtlCol="0">
            <a:noAutofit/>
          </a:bodyPr>
          <a:lstStyle/>
          <a:p>
            <a:r>
              <a:rPr lang="en-IN" sz="1800" b="1" dirty="0">
                <a:latin typeface="Arial" panose="020B0604020202020204" pitchFamily="34" charset="0"/>
                <a:cs typeface="Arial" panose="020B0604020202020204" pitchFamily="34" charset="0"/>
              </a:rPr>
              <a:t>Analytical Process</a:t>
            </a:r>
            <a:endParaRPr lang="en-IN" sz="1800"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The system follows a structured </a:t>
            </a:r>
            <a:r>
              <a:rPr lang="en-IN" sz="1800" b="1" dirty="0">
                <a:latin typeface="Arial" panose="020B0604020202020204" pitchFamily="34" charset="0"/>
                <a:cs typeface="Arial" panose="020B0604020202020204" pitchFamily="34" charset="0"/>
              </a:rPr>
              <a:t>data analysis workflow using Power BI</a:t>
            </a:r>
            <a:r>
              <a:rPr lang="en-IN" sz="1800" dirty="0">
                <a:latin typeface="Arial" panose="020B0604020202020204" pitchFamily="34" charset="0"/>
                <a:cs typeface="Arial" panose="020B0604020202020204" pitchFamily="34" charset="0"/>
              </a:rPr>
              <a:t> to extract insights from the Amazon product dataset.</a:t>
            </a:r>
          </a:p>
          <a:p>
            <a:r>
              <a:rPr lang="en-IN" sz="1800" b="1" dirty="0">
                <a:latin typeface="Arial" panose="020B0604020202020204" pitchFamily="34" charset="0"/>
                <a:cs typeface="Arial" panose="020B0604020202020204" pitchFamily="34" charset="0"/>
              </a:rPr>
              <a:t>Step 1 – Data Import:</a:t>
            </a:r>
            <a:r>
              <a:rPr lang="en-IN" sz="1800" dirty="0">
                <a:latin typeface="Arial" panose="020B0604020202020204" pitchFamily="34" charset="0"/>
                <a:cs typeface="Arial" panose="020B0604020202020204" pitchFamily="34" charset="0"/>
              </a:rPr>
              <a:t> The dataset in </a:t>
            </a:r>
            <a:r>
              <a:rPr lang="en-IN" sz="1800" b="1" dirty="0">
                <a:latin typeface="Arial" panose="020B0604020202020204" pitchFamily="34" charset="0"/>
                <a:cs typeface="Arial" panose="020B0604020202020204" pitchFamily="34" charset="0"/>
              </a:rPr>
              <a:t>CSV format is imported into Power BI</a:t>
            </a:r>
            <a:r>
              <a:rPr lang="en-IN" sz="1800" dirty="0">
                <a:latin typeface="Arial" panose="020B0604020202020204" pitchFamily="34" charset="0"/>
                <a:cs typeface="Arial" panose="020B0604020202020204" pitchFamily="34" charset="0"/>
              </a:rPr>
              <a:t> for analysis.</a:t>
            </a:r>
          </a:p>
          <a:p>
            <a:r>
              <a:rPr lang="en-IN" sz="1800" b="1" dirty="0">
                <a:latin typeface="Arial" panose="020B0604020202020204" pitchFamily="34" charset="0"/>
                <a:cs typeface="Arial" panose="020B0604020202020204" pitchFamily="34" charset="0"/>
              </a:rPr>
              <a:t>Step 2 – Data Cleaning:</a:t>
            </a:r>
            <a:r>
              <a:rPr lang="en-IN" sz="1800" dirty="0">
                <a:latin typeface="Arial" panose="020B0604020202020204" pitchFamily="34" charset="0"/>
                <a:cs typeface="Arial" panose="020B0604020202020204" pitchFamily="34" charset="0"/>
              </a:rPr>
              <a:t> Missing values and inconsistencies are identified and corrected to ensure </a:t>
            </a:r>
            <a:r>
              <a:rPr lang="en-IN" sz="1800" b="1" dirty="0">
                <a:latin typeface="Arial" panose="020B0604020202020204" pitchFamily="34" charset="0"/>
                <a:cs typeface="Arial" panose="020B0604020202020204" pitchFamily="34" charset="0"/>
              </a:rPr>
              <a:t>data accuracy and reliability</a:t>
            </a:r>
            <a:r>
              <a:rPr lang="en-IN" sz="1800" dirty="0">
                <a:latin typeface="Arial" panose="020B0604020202020204" pitchFamily="34" charset="0"/>
                <a:cs typeface="Arial" panose="020B0604020202020204" pitchFamily="34" charset="0"/>
              </a:rPr>
              <a:t>.</a:t>
            </a:r>
          </a:p>
          <a:p>
            <a:r>
              <a:rPr lang="en-IN" sz="1800" b="1" dirty="0">
                <a:latin typeface="Arial" panose="020B0604020202020204" pitchFamily="34" charset="0"/>
                <a:cs typeface="Arial" panose="020B0604020202020204" pitchFamily="34" charset="0"/>
              </a:rPr>
              <a:t>Step 3 – Data Transformation:</a:t>
            </a:r>
            <a:r>
              <a:rPr lang="en-IN" sz="1800" dirty="0">
                <a:latin typeface="Arial" panose="020B0604020202020204" pitchFamily="34" charset="0"/>
                <a:cs typeface="Arial" panose="020B0604020202020204" pitchFamily="34" charset="0"/>
              </a:rPr>
              <a:t> Important fields such as </a:t>
            </a:r>
            <a:r>
              <a:rPr lang="en-IN" sz="1800" b="1" dirty="0">
                <a:latin typeface="Arial" panose="020B0604020202020204" pitchFamily="34" charset="0"/>
                <a:cs typeface="Arial" panose="020B0604020202020204" pitchFamily="34" charset="0"/>
              </a:rPr>
              <a:t>product ratings, number of reviews, actual price, and discount price</a:t>
            </a:r>
            <a:r>
              <a:rPr lang="en-IN" sz="1800" dirty="0">
                <a:latin typeface="Arial" panose="020B0604020202020204" pitchFamily="34" charset="0"/>
                <a:cs typeface="Arial" panose="020B0604020202020204" pitchFamily="34" charset="0"/>
              </a:rPr>
              <a:t> are formatted and prepared for analysis.</a:t>
            </a:r>
          </a:p>
          <a:p>
            <a:r>
              <a:rPr lang="en-IN" sz="1800" b="1" dirty="0">
                <a:latin typeface="Arial" panose="020B0604020202020204" pitchFamily="34" charset="0"/>
                <a:cs typeface="Arial" panose="020B0604020202020204" pitchFamily="34" charset="0"/>
              </a:rPr>
              <a:t>Step 4 – Data Visualization:</a:t>
            </a:r>
            <a:r>
              <a:rPr lang="en-IN" sz="1800" dirty="0">
                <a:latin typeface="Arial" panose="020B0604020202020204" pitchFamily="34" charset="0"/>
                <a:cs typeface="Arial" panose="020B0604020202020204" pitchFamily="34" charset="0"/>
              </a:rPr>
              <a:t> Interactive </a:t>
            </a:r>
            <a:r>
              <a:rPr lang="en-IN" sz="1800" b="1" dirty="0">
                <a:latin typeface="Arial" panose="020B0604020202020204" pitchFamily="34" charset="0"/>
                <a:cs typeface="Arial" panose="020B0604020202020204" pitchFamily="34" charset="0"/>
              </a:rPr>
              <a:t>charts and KPI cards</a:t>
            </a:r>
            <a:r>
              <a:rPr lang="en-IN" sz="1800" dirty="0">
                <a:latin typeface="Arial" panose="020B0604020202020204" pitchFamily="34" charset="0"/>
                <a:cs typeface="Arial" panose="020B0604020202020204" pitchFamily="34" charset="0"/>
              </a:rPr>
              <a:t> are created to represent key metrics such as total products, average rating, total reviews, brand performance, price comparison, and sentiment distribution.</a:t>
            </a:r>
          </a:p>
          <a:p>
            <a:r>
              <a:rPr lang="en-IN" sz="1800" b="1" dirty="0">
                <a:latin typeface="Arial" panose="020B0604020202020204" pitchFamily="34" charset="0"/>
                <a:cs typeface="Arial" panose="020B0604020202020204" pitchFamily="34" charset="0"/>
              </a:rPr>
              <a:t>Deployment:</a:t>
            </a:r>
            <a:r>
              <a:rPr lang="en-IN" sz="1800" dirty="0">
                <a:latin typeface="Arial" panose="020B0604020202020204" pitchFamily="34" charset="0"/>
                <a:cs typeface="Arial" panose="020B0604020202020204" pitchFamily="34" charset="0"/>
              </a:rPr>
              <a:t> The final dashboard is developed using </a:t>
            </a:r>
            <a:r>
              <a:rPr lang="en-IN" sz="1800" b="1" dirty="0">
                <a:latin typeface="Arial" panose="020B0604020202020204" pitchFamily="34" charset="0"/>
                <a:cs typeface="Arial" panose="020B0604020202020204" pitchFamily="34" charset="0"/>
              </a:rPr>
              <a:t>Power BI Desktop</a:t>
            </a:r>
            <a:r>
              <a:rPr lang="en-IN" sz="1800" dirty="0">
                <a:latin typeface="Arial" panose="020B0604020202020204" pitchFamily="34" charset="0"/>
                <a:cs typeface="Arial" panose="020B0604020202020204" pitchFamily="34" charset="0"/>
              </a:rPr>
              <a:t> and can be shared as reports or interactive dashboards for analysis and presentation.</a:t>
            </a:r>
          </a:p>
          <a:p>
            <a:pPr marL="305435" indent="-305435">
              <a:spcBef>
                <a:spcPct val="20000"/>
              </a:spcBef>
              <a:spcAft>
                <a:spcPts val="600"/>
              </a:spcAft>
              <a:buFont typeface="Arial"/>
              <a:buChar char="•"/>
            </a:pP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7" y="1584103"/>
            <a:ext cx="10515600" cy="4251960"/>
          </a:xfrm>
        </p:spPr>
        <p:txBody>
          <a:bodyPr vert="horz" lIns="91440" tIns="45720" rIns="91440" bIns="45720" rtlCol="0">
            <a:normAutofit lnSpcReduction="10000"/>
          </a:bodyPr>
          <a:lstStyle/>
          <a:p>
            <a:r>
              <a:rPr lang="en-IN" sz="2400" dirty="0"/>
              <a:t>The Power BI dashboard successfully provides insights about Amazon product performance and customer feedback.</a:t>
            </a:r>
          </a:p>
          <a:p>
            <a:r>
              <a:rPr lang="en-IN" sz="2400" dirty="0"/>
              <a:t>The dashboard includes:</a:t>
            </a:r>
          </a:p>
          <a:p>
            <a:r>
              <a:rPr lang="en-IN" sz="2400" dirty="0"/>
              <a:t>KPI cards showing total number of products, average ratings, and total reviews</a:t>
            </a:r>
          </a:p>
          <a:p>
            <a:r>
              <a:rPr lang="en-IN" sz="2400" dirty="0"/>
              <a:t>Brand performance visualization showing top brands by product count</a:t>
            </a:r>
          </a:p>
          <a:p>
            <a:r>
              <a:rPr lang="en-IN" sz="2400" dirty="0"/>
              <a:t>Comparison between actual price and discounted price</a:t>
            </a:r>
          </a:p>
          <a:p>
            <a:r>
              <a:rPr lang="en-IN" sz="2400" dirty="0"/>
              <a:t>Sentiment distribution showing positive and negative reviews</a:t>
            </a:r>
          </a:p>
          <a:p>
            <a:r>
              <a:rPr lang="en-IN" sz="2400" dirty="0"/>
              <a:t>Most reviewed brands indicating customer engagement</a:t>
            </a:r>
          </a:p>
          <a:p>
            <a:r>
              <a:rPr lang="en-IN" sz="2400" dirty="0"/>
              <a:t>These visualizations help understand product popularity and customer satisfaction more effectively.</a:t>
            </a:r>
          </a:p>
          <a:p>
            <a:pPr marL="0" indent="0">
              <a:buNone/>
            </a:pPr>
            <a:endParaRPr lang="en-US" sz="2200" dirty="0"/>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60BF5-183B-86F4-F440-033330D4A7C3}"/>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DC753A3C-0BE7-18E0-CC57-2DF8D8AA68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p:pic>
      <p:pic>
        <p:nvPicPr>
          <p:cNvPr id="7" name="Picture 6">
            <a:extLst>
              <a:ext uri="{FF2B5EF4-FFF2-40B4-BE49-F238E27FC236}">
                <a16:creationId xmlns:a16="http://schemas.microsoft.com/office/drawing/2014/main" id="{B4C1784F-EE19-257D-0157-DB4D8DA66B4C}"/>
              </a:ext>
            </a:extLst>
          </p:cNvPr>
          <p:cNvPicPr>
            <a:picLocks noChangeAspect="1"/>
          </p:cNvPicPr>
          <p:nvPr/>
        </p:nvPicPr>
        <p:blipFill>
          <a:blip r:embed="rId2">
            <a:extLst>
              <a:ext uri="{28A0092B-C50C-407E-A947-70E740481C1C}">
                <a14:useLocalDpi xmlns:a14="http://schemas.microsoft.com/office/drawing/2010/main" val="0"/>
              </a:ext>
            </a:extLst>
          </a:blip>
          <a:srcRect l="18854" t="19244" r="20313" b="8434"/>
          <a:stretch>
            <a:fillRect/>
          </a:stretch>
        </p:blipFill>
        <p:spPr>
          <a:xfrm>
            <a:off x="110613" y="1165122"/>
            <a:ext cx="11970774" cy="5086965"/>
          </a:xfrm>
          <a:prstGeom prst="rect">
            <a:avLst/>
          </a:prstGeom>
        </p:spPr>
      </p:pic>
    </p:spTree>
    <p:extLst>
      <p:ext uri="{BB962C8B-B14F-4D97-AF65-F5344CB8AC3E}">
        <p14:creationId xmlns:p14="http://schemas.microsoft.com/office/powerpoint/2010/main" val="3673877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r>
              <a:rPr lang="en-IN" sz="2400" dirty="0"/>
              <a:t>This project demonstrates how </a:t>
            </a:r>
            <a:r>
              <a:rPr lang="en-IN" sz="2400" b="1" dirty="0"/>
              <a:t>Power BI can transform raw Amazon product data into meaningful business insights</a:t>
            </a:r>
            <a:r>
              <a:rPr lang="en-IN" sz="2400" dirty="0"/>
              <a:t>.</a:t>
            </a:r>
          </a:p>
          <a:p>
            <a:r>
              <a:rPr lang="en-IN" sz="2400" dirty="0"/>
              <a:t>The dashboard helps </a:t>
            </a:r>
            <a:r>
              <a:rPr lang="en-IN" sz="2400" dirty="0" err="1"/>
              <a:t>analyze</a:t>
            </a:r>
            <a:r>
              <a:rPr lang="en-IN" sz="2400" dirty="0"/>
              <a:t> product performance, brand popularity, customer engagement, and pricing trends through interactive visualizations.</a:t>
            </a:r>
          </a:p>
          <a:p>
            <a:r>
              <a:rPr lang="en-IN" sz="2400" dirty="0"/>
              <a:t>By using data analytics and visualization techniques, the system enables users to quickly understand large datasets and make informed decisions.</a:t>
            </a:r>
          </a:p>
          <a:p>
            <a:pPr marL="0" indent="0">
              <a:buNone/>
            </a:pPr>
            <a:endParaRPr lang="en-US" sz="2200" dirty="0"/>
          </a:p>
          <a:p>
            <a:pPr marL="0" indent="0">
              <a:buNone/>
            </a:pP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r>
              <a:rPr lang="en-IN" sz="2400" dirty="0"/>
              <a:t>The project can be further improved by:</a:t>
            </a:r>
          </a:p>
          <a:p>
            <a:r>
              <a:rPr lang="en-IN" sz="2400" dirty="0"/>
              <a:t>Integrating real-time Amazon marketplace data</a:t>
            </a:r>
          </a:p>
          <a:p>
            <a:r>
              <a:rPr lang="en-IN" sz="2400" dirty="0"/>
              <a:t>Applying machine learning techniques for sales prediction</a:t>
            </a:r>
          </a:p>
          <a:p>
            <a:r>
              <a:rPr lang="en-IN" sz="2400" dirty="0"/>
              <a:t>Adding product category-based analysis</a:t>
            </a:r>
          </a:p>
          <a:p>
            <a:r>
              <a:rPr lang="en-IN" sz="2400" dirty="0"/>
              <a:t>Performing advanced sentiment analysis using Natural Language Processing (NLP)</a:t>
            </a:r>
          </a:p>
          <a:p>
            <a:r>
              <a:rPr lang="en-IN" sz="2400" dirty="0"/>
              <a:t>Deploying the dashboard on Power BI cloud for real-time reporting</a:t>
            </a:r>
          </a:p>
          <a:p>
            <a:pPr marL="0" indent="0">
              <a:buNone/>
            </a:pP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6" name="Rectangle 3">
            <a:extLst>
              <a:ext uri="{FF2B5EF4-FFF2-40B4-BE49-F238E27FC236}">
                <a16:creationId xmlns:a16="http://schemas.microsoft.com/office/drawing/2014/main" id="{416457E7-4FF6-0198-C4BB-DAF818CE4250}"/>
              </a:ext>
            </a:extLst>
          </p:cNvPr>
          <p:cNvSpPr>
            <a:spLocks noGrp="1" noChangeArrowheads="1"/>
          </p:cNvSpPr>
          <p:nvPr>
            <p:ph idx="1"/>
          </p:nvPr>
        </p:nvSpPr>
        <p:spPr bwMode="auto">
          <a:xfrm>
            <a:off x="196850" y="1793398"/>
            <a:ext cx="75882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Kaggle Amazon Product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Microsoft Power BI Documentation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Visualization and Business Intelligence Resources</a:t>
            </a:r>
          </a:p>
          <a:p>
            <a:pPr marL="0" lvl="0" indent="0" eaLnBrk="0" fontAlgn="base" hangingPunct="0">
              <a:lnSpc>
                <a:spcPct val="100000"/>
              </a:lnSpc>
              <a:spcBef>
                <a:spcPct val="0"/>
              </a:spcBef>
              <a:spcAft>
                <a:spcPct val="0"/>
              </a:spcAft>
              <a:buFontTx/>
              <a:buChar char="•"/>
            </a:pPr>
            <a:r>
              <a:rPr kumimoji="0" lang="en-US" altLang="en-US" sz="1800" b="0" i="0" u="none" strike="noStrike" cap="none" normalizeH="0" baseline="0">
                <a:ln>
                  <a:noFill/>
                </a:ln>
                <a:solidFill>
                  <a:schemeClr val="tx1"/>
                </a:solidFill>
                <a:effectLst/>
                <a:latin typeface="Arial" panose="020B0604020202020204" pitchFamily="34" charset="0"/>
              </a:rPr>
              <a:t>Git hub</a:t>
            </a:r>
            <a:r>
              <a:rPr lang="en-US" altLang="en-US" sz="1800">
                <a:latin typeface="Arial" panose="020B0604020202020204" pitchFamily="34" charset="0"/>
              </a:rPr>
              <a:t> </a:t>
            </a:r>
            <a:r>
              <a:rPr lang="en-US" altLang="en-US" sz="1800" dirty="0">
                <a:latin typeface="Arial" panose="020B0604020202020204" pitchFamily="34" charset="0"/>
              </a:rPr>
              <a:t>link: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4D3B0BC0-28B4-0CC7-76AB-2B544BB6FCA2}"/>
              </a:ext>
            </a:extLst>
          </p:cNvPr>
          <p:cNvSpPr txBox="1"/>
          <p:nvPr/>
        </p:nvSpPr>
        <p:spPr>
          <a:xfrm>
            <a:off x="1496961" y="2624395"/>
            <a:ext cx="7130845" cy="369332"/>
          </a:xfrm>
          <a:prstGeom prst="rect">
            <a:avLst/>
          </a:prstGeom>
          <a:noFill/>
        </p:spPr>
        <p:txBody>
          <a:bodyPr wrap="square">
            <a:spAutoFit/>
          </a:bodyPr>
          <a:lstStyle/>
          <a:p>
            <a:r>
              <a:rPr lang="en-IN" dirty="0">
                <a:hlinkClick r:id="rId2"/>
              </a:rPr>
              <a:t>https://github.com/Padmapriya1206/Amazon-PowerBI-Project</a:t>
            </a:r>
            <a:endParaRPr lang="en-IN" dirty="0"/>
          </a:p>
        </p:txBody>
      </p:sp>
    </p:spTree>
    <p:extLst>
      <p:ext uri="{BB962C8B-B14F-4D97-AF65-F5344CB8AC3E}">
        <p14:creationId xmlns:p14="http://schemas.microsoft.com/office/powerpoint/2010/main" val="169170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736</Words>
  <Application>Microsoft Office PowerPoint</Application>
  <PresentationFormat>Widescreen</PresentationFormat>
  <Paragraphs>84</Paragraphs>
  <Slides>12</Slides>
  <Notes>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Aptos</vt:lpstr>
      <vt:lpstr>Arial</vt:lpstr>
      <vt:lpstr>Calibri</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Padmapriya V</cp:lastModifiedBy>
  <cp:revision>100</cp:revision>
  <dcterms:created xsi:type="dcterms:W3CDTF">2024-05-21T11:55:07Z</dcterms:created>
  <dcterms:modified xsi:type="dcterms:W3CDTF">2026-03-14T17:42:41Z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